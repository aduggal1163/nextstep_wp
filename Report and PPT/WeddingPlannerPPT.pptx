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70" r:id="rId14"/>
    <p:sldId id="267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5312ED-6117-4EB0-8DF9-6CB334C3601A}" type="doc">
      <dgm:prSet loTypeId="urn:microsoft.com/office/officeart/2005/8/layout/vList2" loCatId="list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D0CE6D11-9403-4FC2-9689-45FC9DF67D19}">
      <dgm:prSet/>
      <dgm:spPr/>
      <dgm:t>
        <a:bodyPr/>
        <a:lstStyle/>
        <a:p>
          <a:r>
            <a:rPr lang="en-IN" dirty="0"/>
            <a:t>User</a:t>
          </a:r>
        </a:p>
      </dgm:t>
    </dgm:pt>
    <dgm:pt modelId="{E0A2796B-32E0-4C28-BC89-0360931CBB3E}" type="parTrans" cxnId="{7869B705-2130-47C7-A420-C4FEC5690128}">
      <dgm:prSet/>
      <dgm:spPr/>
      <dgm:t>
        <a:bodyPr/>
        <a:lstStyle/>
        <a:p>
          <a:endParaRPr lang="en-IN"/>
        </a:p>
      </dgm:t>
    </dgm:pt>
    <dgm:pt modelId="{167FE3D6-1F4A-4FC3-B8E0-838E0B7DE2FA}" type="sibTrans" cxnId="{7869B705-2130-47C7-A420-C4FEC5690128}">
      <dgm:prSet/>
      <dgm:spPr/>
      <dgm:t>
        <a:bodyPr/>
        <a:lstStyle/>
        <a:p>
          <a:endParaRPr lang="en-IN"/>
        </a:p>
      </dgm:t>
    </dgm:pt>
    <dgm:pt modelId="{405641AD-350F-40B8-8C86-84FEC67FA4A1}">
      <dgm:prSet/>
      <dgm:spPr/>
      <dgm:t>
        <a:bodyPr/>
        <a:lstStyle/>
        <a:p>
          <a:r>
            <a:rPr lang="en-IN" dirty="0"/>
            <a:t>Planner</a:t>
          </a:r>
        </a:p>
      </dgm:t>
    </dgm:pt>
    <dgm:pt modelId="{B34A1492-56E1-4827-AC03-661C0AAD8224}" type="parTrans" cxnId="{FDA0F160-B113-49EA-A4FE-3CE4FBFF7250}">
      <dgm:prSet/>
      <dgm:spPr/>
      <dgm:t>
        <a:bodyPr/>
        <a:lstStyle/>
        <a:p>
          <a:endParaRPr lang="en-IN"/>
        </a:p>
      </dgm:t>
    </dgm:pt>
    <dgm:pt modelId="{96FBFC51-73E7-4646-B217-67665825AB24}" type="sibTrans" cxnId="{FDA0F160-B113-49EA-A4FE-3CE4FBFF7250}">
      <dgm:prSet/>
      <dgm:spPr/>
      <dgm:t>
        <a:bodyPr/>
        <a:lstStyle/>
        <a:p>
          <a:endParaRPr lang="en-IN"/>
        </a:p>
      </dgm:t>
    </dgm:pt>
    <dgm:pt modelId="{0309CE57-3D39-43E7-B26E-D493D71C551B}">
      <dgm:prSet/>
      <dgm:spPr/>
      <dgm:t>
        <a:bodyPr/>
        <a:lstStyle/>
        <a:p>
          <a:r>
            <a:rPr lang="en-IN" dirty="0"/>
            <a:t>Vendor</a:t>
          </a:r>
        </a:p>
      </dgm:t>
    </dgm:pt>
    <dgm:pt modelId="{C35019D6-4FDF-46BA-AD12-FD1141114863}" type="parTrans" cxnId="{89FE965C-FFFD-4E71-AE45-6D1DC8652AEA}">
      <dgm:prSet/>
      <dgm:spPr/>
      <dgm:t>
        <a:bodyPr/>
        <a:lstStyle/>
        <a:p>
          <a:endParaRPr lang="en-IN"/>
        </a:p>
      </dgm:t>
    </dgm:pt>
    <dgm:pt modelId="{6DBC21E4-19D3-4DDA-A243-514FD98F9473}" type="sibTrans" cxnId="{89FE965C-FFFD-4E71-AE45-6D1DC8652AEA}">
      <dgm:prSet/>
      <dgm:spPr/>
      <dgm:t>
        <a:bodyPr/>
        <a:lstStyle/>
        <a:p>
          <a:endParaRPr lang="en-IN"/>
        </a:p>
      </dgm:t>
    </dgm:pt>
    <dgm:pt modelId="{0A0A262A-8761-4F92-A599-397062FC182A}">
      <dgm:prSet/>
      <dgm:spPr/>
      <dgm:t>
        <a:bodyPr/>
        <a:lstStyle/>
        <a:p>
          <a:r>
            <a:rPr lang="en-IN" dirty="0"/>
            <a:t>Admin</a:t>
          </a:r>
        </a:p>
      </dgm:t>
    </dgm:pt>
    <dgm:pt modelId="{ACC142DD-F582-4678-8C4B-180C60F2B510}" type="sibTrans" cxnId="{33D74C46-5337-47C8-9F7F-01B12ED7BA37}">
      <dgm:prSet/>
      <dgm:spPr/>
      <dgm:t>
        <a:bodyPr/>
        <a:lstStyle/>
        <a:p>
          <a:endParaRPr lang="en-IN"/>
        </a:p>
      </dgm:t>
    </dgm:pt>
    <dgm:pt modelId="{ED777AB0-C88B-4A82-B5AB-2B958C07A7EB}" type="parTrans" cxnId="{33D74C46-5337-47C8-9F7F-01B12ED7BA37}">
      <dgm:prSet/>
      <dgm:spPr/>
      <dgm:t>
        <a:bodyPr/>
        <a:lstStyle/>
        <a:p>
          <a:endParaRPr lang="en-IN"/>
        </a:p>
      </dgm:t>
    </dgm:pt>
    <dgm:pt modelId="{F645AA1C-54B7-44A6-AC45-6E5639F8409A}" type="pres">
      <dgm:prSet presAssocID="{4E5312ED-6117-4EB0-8DF9-6CB334C3601A}" presName="linear" presStyleCnt="0">
        <dgm:presLayoutVars>
          <dgm:animLvl val="lvl"/>
          <dgm:resizeHandles val="exact"/>
        </dgm:presLayoutVars>
      </dgm:prSet>
      <dgm:spPr/>
    </dgm:pt>
    <dgm:pt modelId="{5C691922-70BD-4ED2-AAB9-29D40EDD6A27}" type="pres">
      <dgm:prSet presAssocID="{D0CE6D11-9403-4FC2-9689-45FC9DF67D1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1644FA2-EE53-49FF-9705-697874DCB523}" type="pres">
      <dgm:prSet presAssocID="{167FE3D6-1F4A-4FC3-B8E0-838E0B7DE2FA}" presName="spacer" presStyleCnt="0"/>
      <dgm:spPr/>
    </dgm:pt>
    <dgm:pt modelId="{C9A6905C-4F3C-46BE-949C-BC4C94C2F85D}" type="pres">
      <dgm:prSet presAssocID="{405641AD-350F-40B8-8C86-84FEC67FA4A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1A99A7F-97E2-4CBD-B057-E95698E29CCC}" type="pres">
      <dgm:prSet presAssocID="{96FBFC51-73E7-4646-B217-67665825AB24}" presName="spacer" presStyleCnt="0"/>
      <dgm:spPr/>
    </dgm:pt>
    <dgm:pt modelId="{A297A35F-1F73-4C79-99B4-6F22047CC38B}" type="pres">
      <dgm:prSet presAssocID="{0309CE57-3D39-43E7-B26E-D493D71C551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B400159-E0A6-4AAF-85BE-DCF55C4A5EBF}" type="pres">
      <dgm:prSet presAssocID="{6DBC21E4-19D3-4DDA-A243-514FD98F9473}" presName="spacer" presStyleCnt="0"/>
      <dgm:spPr/>
    </dgm:pt>
    <dgm:pt modelId="{64376EBF-4B7C-4EF4-BFA1-9D382A6734FB}" type="pres">
      <dgm:prSet presAssocID="{0A0A262A-8761-4F92-A599-397062FC182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869B705-2130-47C7-A420-C4FEC5690128}" srcId="{4E5312ED-6117-4EB0-8DF9-6CB334C3601A}" destId="{D0CE6D11-9403-4FC2-9689-45FC9DF67D19}" srcOrd="0" destOrd="0" parTransId="{E0A2796B-32E0-4C28-BC89-0360931CBB3E}" sibTransId="{167FE3D6-1F4A-4FC3-B8E0-838E0B7DE2FA}"/>
    <dgm:cxn modelId="{8A6F5210-13BA-4801-810F-0EE9942ABE48}" type="presOf" srcId="{0A0A262A-8761-4F92-A599-397062FC182A}" destId="{64376EBF-4B7C-4EF4-BFA1-9D382A6734FB}" srcOrd="0" destOrd="0" presId="urn:microsoft.com/office/officeart/2005/8/layout/vList2"/>
    <dgm:cxn modelId="{65CA4B1E-CC4D-4C75-AD98-5682D65CEA84}" type="presOf" srcId="{4E5312ED-6117-4EB0-8DF9-6CB334C3601A}" destId="{F645AA1C-54B7-44A6-AC45-6E5639F8409A}" srcOrd="0" destOrd="0" presId="urn:microsoft.com/office/officeart/2005/8/layout/vList2"/>
    <dgm:cxn modelId="{89FE965C-FFFD-4E71-AE45-6D1DC8652AEA}" srcId="{4E5312ED-6117-4EB0-8DF9-6CB334C3601A}" destId="{0309CE57-3D39-43E7-B26E-D493D71C551B}" srcOrd="2" destOrd="0" parTransId="{C35019D6-4FDF-46BA-AD12-FD1141114863}" sibTransId="{6DBC21E4-19D3-4DDA-A243-514FD98F9473}"/>
    <dgm:cxn modelId="{FDA0F160-B113-49EA-A4FE-3CE4FBFF7250}" srcId="{4E5312ED-6117-4EB0-8DF9-6CB334C3601A}" destId="{405641AD-350F-40B8-8C86-84FEC67FA4A1}" srcOrd="1" destOrd="0" parTransId="{B34A1492-56E1-4827-AC03-661C0AAD8224}" sibTransId="{96FBFC51-73E7-4646-B217-67665825AB24}"/>
    <dgm:cxn modelId="{33D74C46-5337-47C8-9F7F-01B12ED7BA37}" srcId="{4E5312ED-6117-4EB0-8DF9-6CB334C3601A}" destId="{0A0A262A-8761-4F92-A599-397062FC182A}" srcOrd="3" destOrd="0" parTransId="{ED777AB0-C88B-4A82-B5AB-2B958C07A7EB}" sibTransId="{ACC142DD-F582-4678-8C4B-180C60F2B510}"/>
    <dgm:cxn modelId="{449BD082-6AC6-415D-85AD-478E0080C52B}" type="presOf" srcId="{D0CE6D11-9403-4FC2-9689-45FC9DF67D19}" destId="{5C691922-70BD-4ED2-AAB9-29D40EDD6A27}" srcOrd="0" destOrd="0" presId="urn:microsoft.com/office/officeart/2005/8/layout/vList2"/>
    <dgm:cxn modelId="{C7033B8F-D437-4DF6-9933-C704EE9C8D86}" type="presOf" srcId="{405641AD-350F-40B8-8C86-84FEC67FA4A1}" destId="{C9A6905C-4F3C-46BE-949C-BC4C94C2F85D}" srcOrd="0" destOrd="0" presId="urn:microsoft.com/office/officeart/2005/8/layout/vList2"/>
    <dgm:cxn modelId="{1DE668AB-E58B-4797-9CE7-6B78F6FC29ED}" type="presOf" srcId="{0309CE57-3D39-43E7-B26E-D493D71C551B}" destId="{A297A35F-1F73-4C79-99B4-6F22047CC38B}" srcOrd="0" destOrd="0" presId="urn:microsoft.com/office/officeart/2005/8/layout/vList2"/>
    <dgm:cxn modelId="{54A0EE18-1C1B-497A-BA7B-9317A2BD25D4}" type="presParOf" srcId="{F645AA1C-54B7-44A6-AC45-6E5639F8409A}" destId="{5C691922-70BD-4ED2-AAB9-29D40EDD6A27}" srcOrd="0" destOrd="0" presId="urn:microsoft.com/office/officeart/2005/8/layout/vList2"/>
    <dgm:cxn modelId="{16582C2D-3765-45E5-9B5F-BCBDA60D4BB0}" type="presParOf" srcId="{F645AA1C-54B7-44A6-AC45-6E5639F8409A}" destId="{41644FA2-EE53-49FF-9705-697874DCB523}" srcOrd="1" destOrd="0" presId="urn:microsoft.com/office/officeart/2005/8/layout/vList2"/>
    <dgm:cxn modelId="{7A27E2FB-A553-485E-8CA6-2991F973B772}" type="presParOf" srcId="{F645AA1C-54B7-44A6-AC45-6E5639F8409A}" destId="{C9A6905C-4F3C-46BE-949C-BC4C94C2F85D}" srcOrd="2" destOrd="0" presId="urn:microsoft.com/office/officeart/2005/8/layout/vList2"/>
    <dgm:cxn modelId="{4BB1FFD7-40F8-48B1-A862-97D87991D858}" type="presParOf" srcId="{F645AA1C-54B7-44A6-AC45-6E5639F8409A}" destId="{A1A99A7F-97E2-4CBD-B057-E95698E29CCC}" srcOrd="3" destOrd="0" presId="urn:microsoft.com/office/officeart/2005/8/layout/vList2"/>
    <dgm:cxn modelId="{EEF3A816-4DEA-4BF7-AB5B-5541C0CE5E90}" type="presParOf" srcId="{F645AA1C-54B7-44A6-AC45-6E5639F8409A}" destId="{A297A35F-1F73-4C79-99B4-6F22047CC38B}" srcOrd="4" destOrd="0" presId="urn:microsoft.com/office/officeart/2005/8/layout/vList2"/>
    <dgm:cxn modelId="{64DD054E-500C-47E9-9E02-F16EB7BB3ADE}" type="presParOf" srcId="{F645AA1C-54B7-44A6-AC45-6E5639F8409A}" destId="{5B400159-E0A6-4AAF-85BE-DCF55C4A5EBF}" srcOrd="5" destOrd="0" presId="urn:microsoft.com/office/officeart/2005/8/layout/vList2"/>
    <dgm:cxn modelId="{39E6EA34-A16C-47BC-89F6-59C70609B1DC}" type="presParOf" srcId="{F645AA1C-54B7-44A6-AC45-6E5639F8409A}" destId="{64376EBF-4B7C-4EF4-BFA1-9D382A6734F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691922-70BD-4ED2-AAB9-29D40EDD6A27}">
      <dsp:nvSpPr>
        <dsp:cNvPr id="0" name=""/>
        <dsp:cNvSpPr/>
      </dsp:nvSpPr>
      <dsp:spPr>
        <a:xfrm>
          <a:off x="0" y="45449"/>
          <a:ext cx="3598607" cy="4212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</a:schemeClr>
            </a:gs>
          </a:gsLst>
          <a:lin ang="1620000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User</a:t>
          </a:r>
        </a:p>
      </dsp:txBody>
      <dsp:txXfrm>
        <a:off x="20561" y="66010"/>
        <a:ext cx="3557485" cy="380078"/>
      </dsp:txXfrm>
    </dsp:sp>
    <dsp:sp modelId="{C9A6905C-4F3C-46BE-949C-BC4C94C2F85D}">
      <dsp:nvSpPr>
        <dsp:cNvPr id="0" name=""/>
        <dsp:cNvSpPr/>
      </dsp:nvSpPr>
      <dsp:spPr>
        <a:xfrm>
          <a:off x="0" y="518489"/>
          <a:ext cx="3598607" cy="4212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</a:schemeClr>
            </a:gs>
          </a:gsLst>
          <a:lin ang="1620000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Planner</a:t>
          </a:r>
        </a:p>
      </dsp:txBody>
      <dsp:txXfrm>
        <a:off x="20561" y="539050"/>
        <a:ext cx="3557485" cy="380078"/>
      </dsp:txXfrm>
    </dsp:sp>
    <dsp:sp modelId="{A297A35F-1F73-4C79-99B4-6F22047CC38B}">
      <dsp:nvSpPr>
        <dsp:cNvPr id="0" name=""/>
        <dsp:cNvSpPr/>
      </dsp:nvSpPr>
      <dsp:spPr>
        <a:xfrm>
          <a:off x="0" y="991529"/>
          <a:ext cx="3598607" cy="4212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</a:schemeClr>
            </a:gs>
          </a:gsLst>
          <a:lin ang="1620000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Vendor</a:t>
          </a:r>
        </a:p>
      </dsp:txBody>
      <dsp:txXfrm>
        <a:off x="20561" y="1012090"/>
        <a:ext cx="3557485" cy="380078"/>
      </dsp:txXfrm>
    </dsp:sp>
    <dsp:sp modelId="{64376EBF-4B7C-4EF4-BFA1-9D382A6734FB}">
      <dsp:nvSpPr>
        <dsp:cNvPr id="0" name=""/>
        <dsp:cNvSpPr/>
      </dsp:nvSpPr>
      <dsp:spPr>
        <a:xfrm>
          <a:off x="0" y="1464569"/>
          <a:ext cx="3598607" cy="4212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</a:schemeClr>
            </a:gs>
          </a:gsLst>
          <a:lin ang="16200000" scaled="1"/>
          <a:tileRect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Admin</a:t>
          </a:r>
        </a:p>
      </dsp:txBody>
      <dsp:txXfrm>
        <a:off x="20561" y="1485130"/>
        <a:ext cx="3557485" cy="380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22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2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2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3DFCA1C-FF37-4AA7-9127-6B5ABC99B24B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4775" y="1336675"/>
            <a:ext cx="4808538" cy="360680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7280" cy="420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5640" cy="53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DB7EC4-955D-40AC-838F-13CCD49676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ftr" idx="5"/>
          </p:nvPr>
        </p:nvSpPr>
        <p:spPr>
          <a:xfrm>
            <a:off x="0" y="10155240"/>
            <a:ext cx="3275640" cy="53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Name of the faculty [Group: G00] [Sem:2nd]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5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7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8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9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0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1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2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13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14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5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6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0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1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2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23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24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5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26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7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8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29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30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31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32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7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38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39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40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41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42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43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44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45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46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47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48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49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47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47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5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56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57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58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59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60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61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62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3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64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65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66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67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2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73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74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75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76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77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78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79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80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81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82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83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84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6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7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88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89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90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91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92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93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94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95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96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97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98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99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47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47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47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6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07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08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109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110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11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12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13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14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115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116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17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18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472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47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47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4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5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26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27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128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129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30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31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32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33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134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135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36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37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47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47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16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3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4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45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46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147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148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49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50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51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52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153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154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55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56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0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61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62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63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164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165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66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67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68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69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170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171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72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73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16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8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79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80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81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182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183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84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85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86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87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188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189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90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191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47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47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47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47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0" y="0"/>
            <a:ext cx="9142560" cy="83664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8" name="CustomShape 2"/>
          <p:cNvSpPr/>
          <p:nvPr/>
        </p:nvSpPr>
        <p:spPr>
          <a:xfrm flipV="1">
            <a:off x="0" y="6703920"/>
            <a:ext cx="9142560" cy="19656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99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00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01" name="Group 3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202" name="CustomShape 4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203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04" name="CustomShape 5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205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06" name="Picture 10" descr="LOGO.gif"/>
          <p:cNvPicPr/>
          <p:nvPr/>
        </p:nvPicPr>
        <p:blipFill>
          <a:blip r:embed="rId2"/>
          <a:srcRect b="10738"/>
          <a:stretch/>
        </p:blipFill>
        <p:spPr>
          <a:xfrm>
            <a:off x="6553080" y="228600"/>
            <a:ext cx="2055960" cy="63360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07" name="Group 6"/>
          <p:cNvGrpSpPr/>
          <p:nvPr/>
        </p:nvGrpSpPr>
        <p:grpSpPr>
          <a:xfrm>
            <a:off x="6146640" y="0"/>
            <a:ext cx="2995920" cy="874800"/>
            <a:chOff x="6146640" y="0"/>
            <a:chExt cx="2995920" cy="874800"/>
          </a:xfrm>
        </p:grpSpPr>
        <p:sp>
          <p:nvSpPr>
            <p:cNvPr id="208" name="CustomShape 7"/>
            <p:cNvSpPr/>
            <p:nvPr/>
          </p:nvSpPr>
          <p:spPr>
            <a:xfrm>
              <a:off x="6146640" y="0"/>
              <a:ext cx="2995920" cy="83664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pic>
          <p:nvPicPr>
            <p:cNvPr id="209" name="Picture 9" descr="LOGO.gif"/>
            <p:cNvPicPr/>
            <p:nvPr/>
          </p:nvPicPr>
          <p:blipFill>
            <a:blip r:embed="rId2"/>
            <a:srcRect b="10738"/>
            <a:stretch/>
          </p:blipFill>
          <p:spPr>
            <a:xfrm>
              <a:off x="6553080" y="228600"/>
              <a:ext cx="2055960" cy="63360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10" name="CustomShape 8"/>
            <p:cNvSpPr/>
            <p:nvPr/>
          </p:nvSpPr>
          <p:spPr>
            <a:xfrm>
              <a:off x="6527880" y="190440"/>
              <a:ext cx="2075040" cy="684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211" name="Picture 15" descr="logo.jpg"/>
          <p:cNvPicPr/>
          <p:nvPr/>
        </p:nvPicPr>
        <p:blipFill>
          <a:blip r:embed="rId3"/>
          <a:stretch/>
        </p:blipFill>
        <p:spPr>
          <a:xfrm>
            <a:off x="6553080" y="228600"/>
            <a:ext cx="1919520" cy="6080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85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85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85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85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85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8520" cy="189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" TargetMode="External"/><Relationship Id="rId2" Type="http://schemas.openxmlformats.org/officeDocument/2006/relationships/hyperlink" Target="https://www.mongod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odejs.org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/>
          <p:nvPr/>
        </p:nvSpPr>
        <p:spPr>
          <a:xfrm>
            <a:off x="0" y="840600"/>
            <a:ext cx="9142920" cy="601632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IOHE(22CS422)</a:t>
            </a:r>
            <a:endParaRPr lang="en-US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NEXTSTEP-DREAM  WEDDING  DESTINATION   PLATFORM</a:t>
            </a:r>
          </a:p>
          <a:p>
            <a:pPr algn="ctr">
              <a:spcBef>
                <a:spcPts val="400"/>
              </a:spcBef>
            </a:pPr>
            <a:b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Abhishek Duggal:2210991163</a:t>
            </a:r>
          </a:p>
          <a:p>
            <a:pPr algn="ctr"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Aaryaman Jindal:2210991119</a:t>
            </a:r>
          </a:p>
          <a:p>
            <a:pPr algn="ctr"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Aaryan Kumar Goyal: 2210991120</a:t>
            </a:r>
          </a:p>
          <a:p>
            <a:pPr algn="ctr"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Gauri Gupta :2210991574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By:-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Ajay Kumar</a:t>
            </a:r>
            <a:endParaRPr lang="en-US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Shape 1"/>
          <p:cNvSpPr/>
          <p:nvPr/>
        </p:nvSpPr>
        <p:spPr>
          <a:xfrm>
            <a:off x="-1714134" y="-39329"/>
            <a:ext cx="6018480" cy="836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" sz="32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Introduction</a:t>
            </a:r>
            <a:endParaRPr lang="en-IN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595A7436-4507-4DDB-8011-818FEA8030CC}" type="slidenum"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S PGothic"/>
              </a:rPr>
              <a:t>2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Shape 2"/>
          <p:cNvSpPr/>
          <p:nvPr/>
        </p:nvSpPr>
        <p:spPr>
          <a:xfrm>
            <a:off x="164160" y="1109880"/>
            <a:ext cx="8837640" cy="53589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Background</a:t>
            </a:r>
            <a:endParaRPr lang="en-IN" sz="2000" b="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wedding planning involves multiple tasks (venues, vendors, bookings, coordination)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is time-consuming and complex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multiple platforms/manual methods causes confusion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inefficiency, poor coordination, and stress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centralized platform to simplify and streamline planning</a:t>
            </a:r>
          </a:p>
          <a:p>
            <a:pPr>
              <a:spcBef>
                <a:spcPts val="1191"/>
              </a:spcBef>
              <a:spcAft>
                <a:spcPts val="992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sz="2000" b="1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Problem Statement</a:t>
            </a: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integration between services (venues, vendors, scheduling) creates management issues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do not offer a complete all-in-one platform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inefficient planning and poor requirement management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enables browsing, booking, and planning in one place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supports planners and vendors with structured management tools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0" y="246960"/>
            <a:ext cx="7679880" cy="58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Software and Hardware Requirement Specification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312516" y="1597306"/>
            <a:ext cx="8830404" cy="415297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IN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Methods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developed using an iterative approach where features are implemented step by step and improved based on testing.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endParaRPr lang="en-IN" sz="20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IN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Programming/Working Environment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Programming Language: JavaScript (React for frontend, Node.js for backend)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Database: MongoDB (NoSQL database)	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Communication: WebSocket (for chat functionality)Email/SMS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IN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Integration: Twilio (for SMS) and Node mailer (for email notifications)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F4454-00A3-4658-D304-90EEEF29B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19252" cy="912960"/>
          </a:xfrm>
        </p:spPr>
        <p:txBody>
          <a:bodyPr/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49AD3-9853-87BB-62B4-6AA3BB77AEDA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5377969-C8AB-565D-19A2-1E5C4D1112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0013678"/>
              </p:ext>
            </p:extLst>
          </p:nvPr>
        </p:nvGraphicFramePr>
        <p:xfrm>
          <a:off x="412955" y="3017248"/>
          <a:ext cx="3598607" cy="1931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756446-0116-0C45-A40D-67FE1D0BC05B}"/>
              </a:ext>
            </a:extLst>
          </p:cNvPr>
          <p:cNvSpPr txBox="1"/>
          <p:nvPr/>
        </p:nvSpPr>
        <p:spPr>
          <a:xfrm>
            <a:off x="117987" y="1041774"/>
            <a:ext cx="88981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web-based destination wedding planning platform that connects users, planners, vendors, and admins in one system.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 Roles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403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93072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Snapshots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67D24E-7522-9095-9475-45FDBC8E4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8697"/>
            <a:ext cx="9144000" cy="4840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6A63A7-A2D4-B8F3-D3C4-B66CF2726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00" y="970961"/>
            <a:ext cx="8443199" cy="4892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975E85-1D4A-7FF0-15BB-9D7779381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2987"/>
            <a:ext cx="9144000" cy="4772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6F157-1194-0868-FD93-41B41EBEF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7275"/>
            <a:ext cx="914400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A6BBA-24BF-11A7-1F96-89146F0A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80D220-2C80-01F8-99C8-62B9B3323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1552"/>
            <a:ext cx="9144000" cy="487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54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		</a:t>
            </a:r>
            <a:r>
              <a:rPr lang="en-US" sz="1800" b="1" u="sng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TECHNOLOGIES AND TOOLS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TextBox 2"/>
          <p:cNvSpPr/>
          <p:nvPr/>
        </p:nvSpPr>
        <p:spPr>
          <a:xfrm>
            <a:off x="373680" y="1406160"/>
            <a:ext cx="8091000" cy="3968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 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      MERN Stack:</a:t>
            </a:r>
            <a:endParaRPr lang="en-IN" sz="18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 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MongoDB: Scalable data management and storage in a NoSQL database.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A web application framework for creating reliable backend services is called Express.js.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React is a JavaScript package designed for creating interactive and dynamic user interfaces.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Node.js is a server-side development environment for JavaScript.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 </a:t>
            </a: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defTabSz="914400">
              <a:lnSpc>
                <a:spcPct val="100000"/>
              </a:lnSpc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Extra Technology</a:t>
            </a:r>
            <a:endParaRPr lang="en-IN" sz="18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Node mailer - 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Email notification system.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Socket.io – used for real time communication b/w user and admin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00000"/>
              </a:lnSpc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Future Scope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C522B-7F46-078C-2736-01FED5ED3EC9}"/>
              </a:ext>
            </a:extLst>
          </p:cNvPr>
          <p:cNvSpPr txBox="1"/>
          <p:nvPr/>
        </p:nvSpPr>
        <p:spPr>
          <a:xfrm>
            <a:off x="248855" y="1781211"/>
            <a:ext cx="86462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 for personalized recommendations (venues, vendors, themes)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payments via Stripe/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Razorpay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for better coordination between users, planners, and vendors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 for wider accessibility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 development for anytime, anywhere access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Conclusion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TextBox 3"/>
          <p:cNvSpPr/>
          <p:nvPr/>
        </p:nvSpPr>
        <p:spPr>
          <a:xfrm>
            <a:off x="207720" y="1724268"/>
            <a:ext cx="8936280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and implementation of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NextStep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destination wedding planning system provides an efficient solution for managing wedding planning activities in a structured and organized way.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various features such as venue browsing, booking management, and dashboards for planners, vendors, and admin, the system reduces manual effort and simplifies the overall planning process.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NextStep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provides a reliable and user-friendly solution that improves the wedding planning experience and can be further enhanced with advanced technologies.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00000"/>
              </a:lnSpc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05F96-EDD9-4A17-C8BD-7D892CB92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390" y="0"/>
            <a:ext cx="5484960" cy="912960"/>
          </a:xfrm>
        </p:spPr>
        <p:txBody>
          <a:bodyPr/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8F5C4-1A1A-7EAB-C880-3C0C040309A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920" y="1440900"/>
            <a:ext cx="8228160" cy="3976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Improved Efficiency: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the process of searching, booking, and managing wedding services, which reduces manual work and saves time for both users and planners.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Enhanced User Experience: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get a simple and easy-to-use interface where they can explore options, compare venues, and make bookings without confusion. The platform ensures smooth navigation and better interaction.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Better Management and Coordination: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Planners and vendors can manage their tasks effectively through dedicated dashboards, which improves communication and coordination between all stakeholders.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44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4960" cy="91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Bibliography/References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TextBox 3"/>
          <p:cNvSpPr/>
          <p:nvPr/>
        </p:nvSpPr>
        <p:spPr>
          <a:xfrm>
            <a:off x="337999" y="1808522"/>
            <a:ext cx="8907120" cy="28357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7000"/>
              </a:lnSpc>
              <a:spcAft>
                <a:spcPts val="2540"/>
              </a:spcAft>
              <a:buClr>
                <a:srgbClr val="000000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en-US" sz="1800" b="0" u="sng" strike="noStrike" dirty="0">
                <a:solidFill>
                  <a:srgbClr val="0000FF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2"/>
              </a:rPr>
              <a:t>https://www.mongodb.com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7000"/>
              </a:lnSpc>
              <a:spcAft>
                <a:spcPts val="2540"/>
              </a:spcAft>
              <a:buClr>
                <a:srgbClr val="000000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en-US" sz="1800" b="0" u="sng" strike="noStrike" dirty="0">
                <a:solidFill>
                  <a:srgbClr val="0000FF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3"/>
              </a:rPr>
              <a:t>https://reactjs.org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7000"/>
              </a:lnSpc>
              <a:spcAft>
                <a:spcPts val="2540"/>
              </a:spcAft>
              <a:buClr>
                <a:srgbClr val="000000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en-US" sz="1800" b="0" u="sng" strike="noStrike" dirty="0">
                <a:solidFill>
                  <a:srgbClr val="0000FF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hlinkClick r:id="rId4"/>
              </a:rPr>
              <a:t>https://nodejs.org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7000"/>
              </a:lnSpc>
              <a:spcAft>
                <a:spcPts val="2540"/>
              </a:spcAft>
              <a:buClr>
                <a:srgbClr val="000000"/>
              </a:buClr>
              <a:buFont typeface="Symbol" charset="2"/>
              <a:buChar char=""/>
              <a:tabLst>
                <a:tab pos="45720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https://www.twilio.com/docs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lnSpc>
                <a:spcPct val="100000"/>
              </a:lnSpc>
              <a:tabLst>
                <a:tab pos="457200" algn="l"/>
              </a:tabLst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Shape 1"/>
          <p:cNvSpPr/>
          <p:nvPr/>
        </p:nvSpPr>
        <p:spPr>
          <a:xfrm>
            <a:off x="1297440" y="2821680"/>
            <a:ext cx="6704640" cy="14097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" sz="5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Thank You</a:t>
            </a:r>
            <a:endParaRPr lang="en-IN" sz="5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Shape 3"/>
          <p:cNvSpPr/>
          <p:nvPr/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6C1B3FB4-3906-4057-B0F5-20B3EC150B49}" type="slidenum"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S PGothic"/>
              </a:rPr>
              <a:t>15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35357</TotalTime>
  <Words>648</Words>
  <Application>Microsoft Office PowerPoint</Application>
  <PresentationFormat>On-screen Show (4:3)</PresentationFormat>
  <Paragraphs>88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 Software and Hardware Requirement Specification </vt:lpstr>
      <vt:lpstr>Project Overview</vt:lpstr>
      <vt:lpstr>Project Snapshots</vt:lpstr>
      <vt:lpstr>PowerPoint Presentation</vt:lpstr>
      <vt:lpstr>PowerPoint Presentation</vt:lpstr>
      <vt:lpstr>PowerPoint Presentation</vt:lpstr>
      <vt:lpstr>PowerPoint Presentation</vt:lpstr>
      <vt:lpstr>  TECHNOLOGIES AND TOOLS</vt:lpstr>
      <vt:lpstr>   Future Scope</vt:lpstr>
      <vt:lpstr>   Conclusion</vt:lpstr>
      <vt:lpstr>Key Outcomes</vt:lpstr>
      <vt:lpstr>   Bibliography/References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ABC</dc:creator>
  <dc:description/>
  <cp:lastModifiedBy>abhishek duggal</cp:lastModifiedBy>
  <cp:revision>2352</cp:revision>
  <dcterms:created xsi:type="dcterms:W3CDTF">2010-04-09T07:36:15Z</dcterms:created>
  <dcterms:modified xsi:type="dcterms:W3CDTF">2026-03-23T04:32:44Z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0x010100096F1BF43DDE004485E7A868D137D60A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13</vt:i4>
  </property>
</Properties>
</file>